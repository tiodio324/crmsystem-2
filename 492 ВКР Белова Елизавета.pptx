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4630400" cy="8229600"/>
  <p:notesSz cx="8229600" cy="14630400"/>
  <p:embeddedFontLst>
    <p:embeddedFont>
      <p:font typeface="Baskervville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Poppins" panose="00000500000000000000" pitchFamily="2" charset="0"/>
      <p:regular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62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717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5.png"/><Relationship Id="rId9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5529" y="3281601"/>
            <a:ext cx="7845743" cy="1666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CRM-система для малого бизнеса</a:t>
            </a:r>
            <a:endParaRPr lang="en-US" sz="52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6EF74AA-D525-4031-9154-7AA708DC77F3}"/>
              </a:ext>
            </a:extLst>
          </p:cNvPr>
          <p:cNvSpPr/>
          <p:nvPr/>
        </p:nvSpPr>
        <p:spPr>
          <a:xfrm>
            <a:off x="12779433" y="7764087"/>
            <a:ext cx="1751214" cy="3491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1986320"/>
            <a:ext cx="8570952" cy="666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Обзор Проекта и Основная Цель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649129" y="3023711"/>
            <a:ext cx="13332143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Представляем инновационную CRM-систему для управления взаимоотношениями с клиентами в малом бизнесе. Этот проект создан как Single Page Application (SPA) без использования react-router, обеспечивая быструю навигацию между разделами без перезагрузки страницы.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9129" y="3825716"/>
            <a:ext cx="4320421" cy="2417445"/>
          </a:xfrm>
          <a:prstGeom prst="roundRect">
            <a:avLst>
              <a:gd name="adj" fmla="val 4539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269" y="3825716"/>
            <a:ext cx="91440" cy="2417445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6" name="Text 4"/>
          <p:cNvSpPr/>
          <p:nvPr/>
        </p:nvSpPr>
        <p:spPr>
          <a:xfrm>
            <a:off x="925949" y="4033957"/>
            <a:ext cx="3835360" cy="999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Автоматизация продаж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925949" y="5144810"/>
            <a:ext cx="3835360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Повышение эффективности работы с клиентами через ведение базы данных и управление сделками.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154930" y="3825716"/>
            <a:ext cx="4320421" cy="2417445"/>
          </a:xfrm>
          <a:prstGeom prst="roundRect">
            <a:avLst>
              <a:gd name="adj" fmla="val 4539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32070" y="3825716"/>
            <a:ext cx="91440" cy="2417445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10" name="Text 8"/>
          <p:cNvSpPr/>
          <p:nvPr/>
        </p:nvSpPr>
        <p:spPr>
          <a:xfrm>
            <a:off x="5431750" y="4033957"/>
            <a:ext cx="3835360" cy="999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Управление клиентами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5431750" y="5144810"/>
            <a:ext cx="3835360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Удобное хранение данных о клиентах, истории коммуникации и взаимосвязей с контрагентами.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660731" y="3825716"/>
            <a:ext cx="4320421" cy="2417445"/>
          </a:xfrm>
          <a:prstGeom prst="roundRect">
            <a:avLst>
              <a:gd name="adj" fmla="val 4539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37871" y="3825716"/>
            <a:ext cx="91440" cy="2417445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14" name="Text 12"/>
          <p:cNvSpPr/>
          <p:nvPr/>
        </p:nvSpPr>
        <p:spPr>
          <a:xfrm>
            <a:off x="9937552" y="4033957"/>
            <a:ext cx="3835360" cy="49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Быстрая навигация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9937552" y="4644985"/>
            <a:ext cx="3835360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SPA архитектура для бесшовного пользовательского опыта без перезагрузки страниц.</a:t>
            </a:r>
            <a:endParaRPr lang="en-US" sz="14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757A141-1AD0-48C1-BA03-87D78E62EC1A}"/>
              </a:ext>
            </a:extLst>
          </p:cNvPr>
          <p:cNvSpPr/>
          <p:nvPr/>
        </p:nvSpPr>
        <p:spPr>
          <a:xfrm>
            <a:off x="12779433" y="7764087"/>
            <a:ext cx="1751214" cy="3491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4440" y="1058585"/>
            <a:ext cx="6866811" cy="52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Основные Возможности Системы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994440" y="1797844"/>
            <a:ext cx="8127921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Платформа предлагает широкий спектр функций для упорядочивания лидов и эффективной обработки заявок клиентов.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994440" y="2643068"/>
            <a:ext cx="3991332" cy="2430780"/>
          </a:xfrm>
          <a:prstGeom prst="roundRect">
            <a:avLst>
              <a:gd name="adj" fmla="val 3009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994440" y="2627828"/>
            <a:ext cx="3991332" cy="60960"/>
          </a:xfrm>
          <a:prstGeom prst="roundRect">
            <a:avLst>
              <a:gd name="adj" fmla="val 357197"/>
            </a:avLst>
          </a:prstGeom>
          <a:solidFill>
            <a:srgbClr val="C7A2AC"/>
          </a:solidFill>
          <a:ln/>
        </p:spPr>
      </p:sp>
      <p:sp>
        <p:nvSpPr>
          <p:cNvPr id="7" name="Shape 4"/>
          <p:cNvSpPr/>
          <p:nvPr/>
        </p:nvSpPr>
        <p:spPr>
          <a:xfrm>
            <a:off x="7772340" y="2425422"/>
            <a:ext cx="435412" cy="435412"/>
          </a:xfrm>
          <a:prstGeom prst="roundRect">
            <a:avLst>
              <a:gd name="adj" fmla="val 210008"/>
            </a:avLst>
          </a:prstGeom>
          <a:solidFill>
            <a:srgbClr val="C7A2AC"/>
          </a:solidFill>
          <a:ln/>
        </p:spPr>
      </p:sp>
      <p:sp>
        <p:nvSpPr>
          <p:cNvPr id="8" name="Text 5"/>
          <p:cNvSpPr/>
          <p:nvPr/>
        </p:nvSpPr>
        <p:spPr>
          <a:xfrm>
            <a:off x="7902952" y="2534245"/>
            <a:ext cx="174188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154817" y="3005971"/>
            <a:ext cx="3096816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Для всех пользователей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6154817" y="3418999"/>
            <a:ext cx="3670578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Просмотр базы клиентов с фильтрацией по статусу (лид/потенциальный/клиент/неактивный)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54817" y="4166235"/>
            <a:ext cx="367057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Поиск по имени и контактным данным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54817" y="4449128"/>
            <a:ext cx="3670578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Просмотр воронки продаж и статистики по сделкам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130909" y="2643068"/>
            <a:ext cx="3991451" cy="2430780"/>
          </a:xfrm>
          <a:prstGeom prst="roundRect">
            <a:avLst>
              <a:gd name="adj" fmla="val 3009"/>
            </a:avLst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0130909" y="2627828"/>
            <a:ext cx="3991451" cy="60960"/>
          </a:xfrm>
          <a:prstGeom prst="roundRect">
            <a:avLst>
              <a:gd name="adj" fmla="val 357197"/>
            </a:avLst>
          </a:prstGeom>
          <a:solidFill>
            <a:srgbClr val="C7A2AC"/>
          </a:solidFill>
          <a:ln/>
        </p:spPr>
      </p:sp>
      <p:sp>
        <p:nvSpPr>
          <p:cNvPr id="15" name="Shape 12"/>
          <p:cNvSpPr/>
          <p:nvPr/>
        </p:nvSpPr>
        <p:spPr>
          <a:xfrm>
            <a:off x="11908929" y="2425422"/>
            <a:ext cx="435412" cy="435412"/>
          </a:xfrm>
          <a:prstGeom prst="roundRect">
            <a:avLst>
              <a:gd name="adj" fmla="val 210008"/>
            </a:avLst>
          </a:prstGeom>
          <a:solidFill>
            <a:srgbClr val="C7A2AC"/>
          </a:solidFill>
          <a:ln/>
        </p:spPr>
      </p:sp>
      <p:sp>
        <p:nvSpPr>
          <p:cNvPr id="16" name="Text 13"/>
          <p:cNvSpPr/>
          <p:nvPr/>
        </p:nvSpPr>
        <p:spPr>
          <a:xfrm>
            <a:off x="12039540" y="2534245"/>
            <a:ext cx="174188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0291286" y="3005971"/>
            <a:ext cx="2608421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Для Менеджеров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10291286" y="3418999"/>
            <a:ext cx="3670697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Добавление и редактирование информации о клиентах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291286" y="3934063"/>
            <a:ext cx="3670697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Управление сделками и их перемещение по этапам воронки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291286" y="4449128"/>
            <a:ext cx="3670697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Создание и назначение задач с приоритетами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94440" y="5436632"/>
            <a:ext cx="8127921" cy="1734264"/>
          </a:xfrm>
          <a:prstGeom prst="roundRect">
            <a:avLst>
              <a:gd name="adj" fmla="val 4218"/>
            </a:avLst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5994440" y="5421392"/>
            <a:ext cx="8127921" cy="60960"/>
          </a:xfrm>
          <a:prstGeom prst="roundRect">
            <a:avLst>
              <a:gd name="adj" fmla="val 357197"/>
            </a:avLst>
          </a:prstGeom>
          <a:solidFill>
            <a:srgbClr val="C7A2AC"/>
          </a:solidFill>
          <a:ln/>
        </p:spPr>
      </p:sp>
      <p:sp>
        <p:nvSpPr>
          <p:cNvPr id="23" name="Shape 20"/>
          <p:cNvSpPr/>
          <p:nvPr/>
        </p:nvSpPr>
        <p:spPr>
          <a:xfrm>
            <a:off x="9840694" y="5218986"/>
            <a:ext cx="435412" cy="435412"/>
          </a:xfrm>
          <a:prstGeom prst="roundRect">
            <a:avLst>
              <a:gd name="adj" fmla="val 210008"/>
            </a:avLst>
          </a:prstGeom>
          <a:solidFill>
            <a:srgbClr val="C7A2AC"/>
          </a:solidFill>
          <a:ln/>
        </p:spPr>
      </p:sp>
      <p:sp>
        <p:nvSpPr>
          <p:cNvPr id="24" name="Text 21"/>
          <p:cNvSpPr/>
          <p:nvPr/>
        </p:nvSpPr>
        <p:spPr>
          <a:xfrm>
            <a:off x="9971306" y="5327809"/>
            <a:ext cx="174188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3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154817" y="5799534"/>
            <a:ext cx="2841069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Для Администраторов</a:t>
            </a:r>
            <a:endParaRPr lang="en-US" sz="2050" dirty="0"/>
          </a:p>
        </p:txBody>
      </p:sp>
      <p:sp>
        <p:nvSpPr>
          <p:cNvPr id="26" name="Text 23"/>
          <p:cNvSpPr/>
          <p:nvPr/>
        </p:nvSpPr>
        <p:spPr>
          <a:xfrm>
            <a:off x="6154817" y="6212562"/>
            <a:ext cx="780716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Полные CRUD операции для всех клиентов и сделок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154817" y="6495455"/>
            <a:ext cx="780716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Управление всеми задачами и назначение их менеджерам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154817" y="6778347"/>
            <a:ext cx="780716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Деактивация записей вместо физического удаления</a:t>
            </a:r>
            <a:endParaRPr lang="en-US" sz="110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B3CB071-6969-42E7-BE0C-6C717D4B8714}"/>
              </a:ext>
            </a:extLst>
          </p:cNvPr>
          <p:cNvSpPr/>
          <p:nvPr/>
        </p:nvSpPr>
        <p:spPr>
          <a:xfrm>
            <a:off x="12779433" y="7764087"/>
            <a:ext cx="1751214" cy="3491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2341" y="464820"/>
            <a:ext cx="7545586" cy="607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Технологический Стек: Frontend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32341" y="1410295"/>
            <a:ext cx="13365718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Наша CRM-система построена на современных и надежных технологиях, обеспечивающих высокую производительность и стабильность.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341" y="1870948"/>
            <a:ext cx="507087" cy="507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2341" y="2589252"/>
            <a:ext cx="3037642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React 19.2.0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632341" y="3070146"/>
            <a:ext cx="6577251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Ведущая библиотека для создания интерактивных пользовательских интерфейсов.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0808" y="1870948"/>
            <a:ext cx="507087" cy="5070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0808" y="2589252"/>
            <a:ext cx="3037642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TypeScript 5.9.3</a:t>
            </a:r>
            <a:endParaRPr lang="en-US" sz="2350" dirty="0"/>
          </a:p>
        </p:txBody>
      </p:sp>
      <p:sp>
        <p:nvSpPr>
          <p:cNvPr id="9" name="Text 5"/>
          <p:cNvSpPr/>
          <p:nvPr/>
        </p:nvSpPr>
        <p:spPr>
          <a:xfrm>
            <a:off x="7420808" y="3070146"/>
            <a:ext cx="6577251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Типизированный JavaScript для повышения надежности и поддерживаемости кода.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341" y="3949184"/>
            <a:ext cx="507087" cy="5070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341" y="4667488"/>
            <a:ext cx="3264575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Vite (rolldown-vite 7.3.0)</a:t>
            </a:r>
            <a:endParaRPr lang="en-US" sz="2350" dirty="0"/>
          </a:p>
        </p:txBody>
      </p:sp>
      <p:sp>
        <p:nvSpPr>
          <p:cNvPr id="12" name="Text 7"/>
          <p:cNvSpPr/>
          <p:nvPr/>
        </p:nvSpPr>
        <p:spPr>
          <a:xfrm>
            <a:off x="632341" y="5148382"/>
            <a:ext cx="6577251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Быстрый инструмент сборки нового поколения для моментальной разработки.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0808" y="3949184"/>
            <a:ext cx="507087" cy="5070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20808" y="4667488"/>
            <a:ext cx="3037642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MobX 6.15.0</a:t>
            </a:r>
            <a:endParaRPr lang="en-US" sz="2350" dirty="0"/>
          </a:p>
        </p:txBody>
      </p:sp>
      <p:sp>
        <p:nvSpPr>
          <p:cNvPr id="15" name="Text 9"/>
          <p:cNvSpPr/>
          <p:nvPr/>
        </p:nvSpPr>
        <p:spPr>
          <a:xfrm>
            <a:off x="7420808" y="5148382"/>
            <a:ext cx="6577251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Простая и масштабируемая библиотека для управления состоянием приложения.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2341" y="6027420"/>
            <a:ext cx="507087" cy="50708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2341" y="6745724"/>
            <a:ext cx="3037642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SCSS/SASS 1.97.1</a:t>
            </a:r>
            <a:endParaRPr lang="en-US" sz="2350" dirty="0"/>
          </a:p>
        </p:txBody>
      </p:sp>
      <p:sp>
        <p:nvSpPr>
          <p:cNvPr id="18" name="Text 11"/>
          <p:cNvSpPr/>
          <p:nvPr/>
        </p:nvSpPr>
        <p:spPr>
          <a:xfrm>
            <a:off x="632341" y="7226618"/>
            <a:ext cx="657725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Мощный препроцессор CSS для модульной и гибкой стилизации.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20808" y="6027420"/>
            <a:ext cx="507087" cy="50708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20808" y="6745724"/>
            <a:ext cx="3037642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Firebase 12.7.0</a:t>
            </a:r>
            <a:endParaRPr lang="en-US" sz="2350" dirty="0"/>
          </a:p>
        </p:txBody>
      </p:sp>
      <p:sp>
        <p:nvSpPr>
          <p:cNvPr id="21" name="Text 13"/>
          <p:cNvSpPr/>
          <p:nvPr/>
        </p:nvSpPr>
        <p:spPr>
          <a:xfrm>
            <a:off x="7420808" y="7226618"/>
            <a:ext cx="6577251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Гибкая база данных в реальном времени для быстрого хранения и синхронизации данных.</a:t>
            </a:r>
            <a:endParaRPr lang="en-US" sz="13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DA13E25-DC8C-4C5C-B922-6A946E986DDD}"/>
              </a:ext>
            </a:extLst>
          </p:cNvPr>
          <p:cNvSpPr/>
          <p:nvPr/>
        </p:nvSpPr>
        <p:spPr>
          <a:xfrm>
            <a:off x="12779433" y="7764087"/>
            <a:ext cx="1751214" cy="3491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844" y="463272"/>
            <a:ext cx="7849553" cy="605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Архитектура Проекта: SRC-Папка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4844" y="1405652"/>
            <a:ext cx="1332071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Структура проекта четко организована для облегчения разработки и масштабирования. SRC-папка содержит все ключевые модули приложения.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03770" y="1864638"/>
            <a:ext cx="22860" cy="5901690"/>
          </a:xfrm>
          <a:prstGeom prst="roundRect">
            <a:avLst>
              <a:gd name="adj" fmla="val 1105540"/>
            </a:avLst>
          </a:prstGeom>
          <a:solidFill>
            <a:srgbClr val="D2C5C9"/>
          </a:solidFill>
          <a:ln/>
        </p:spPr>
      </p:sp>
      <p:sp>
        <p:nvSpPr>
          <p:cNvPr id="5" name="Shape 3"/>
          <p:cNvSpPr/>
          <p:nvPr/>
        </p:nvSpPr>
        <p:spPr>
          <a:xfrm>
            <a:off x="7001113" y="2042636"/>
            <a:ext cx="336947" cy="22860"/>
          </a:xfrm>
          <a:prstGeom prst="roundRect">
            <a:avLst>
              <a:gd name="adj" fmla="val 1105540"/>
            </a:avLst>
          </a:prstGeom>
          <a:solidFill>
            <a:srgbClr val="D2C5C9"/>
          </a:solidFill>
          <a:ln/>
        </p:spPr>
      </p:sp>
      <p:sp>
        <p:nvSpPr>
          <p:cNvPr id="6" name="Shape 4"/>
          <p:cNvSpPr/>
          <p:nvPr/>
        </p:nvSpPr>
        <p:spPr>
          <a:xfrm>
            <a:off x="7252037" y="1990904"/>
            <a:ext cx="126325" cy="126325"/>
          </a:xfrm>
          <a:prstGeom prst="roundRect">
            <a:avLst>
              <a:gd name="adj" fmla="val 361924"/>
            </a:avLst>
          </a:prstGeom>
          <a:solidFill>
            <a:srgbClr val="C7A2AC"/>
          </a:solidFill>
          <a:ln/>
        </p:spPr>
      </p:sp>
      <p:sp>
        <p:nvSpPr>
          <p:cNvPr id="7" name="Text 5"/>
          <p:cNvSpPr/>
          <p:nvPr/>
        </p:nvSpPr>
        <p:spPr>
          <a:xfrm>
            <a:off x="3613904" y="1922502"/>
            <a:ext cx="3027402" cy="378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50"/>
              </a:lnSpc>
              <a:buNone/>
            </a:pPr>
            <a:r>
              <a:rPr lang="en-US" sz="23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Компоненты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654844" y="2401967"/>
            <a:ext cx="5986463" cy="539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Переиспользуемые UI элементы и макеты (Button, Input, Modal, Table, LoginModal, ConfirmModal).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92340" y="3053477"/>
            <a:ext cx="336947" cy="22860"/>
          </a:xfrm>
          <a:prstGeom prst="roundRect">
            <a:avLst>
              <a:gd name="adj" fmla="val 1105540"/>
            </a:avLst>
          </a:prstGeom>
          <a:solidFill>
            <a:srgbClr val="D2C5C9"/>
          </a:solidFill>
          <a:ln/>
        </p:spPr>
      </p:sp>
      <p:sp>
        <p:nvSpPr>
          <p:cNvPr id="10" name="Shape 8"/>
          <p:cNvSpPr/>
          <p:nvPr/>
        </p:nvSpPr>
        <p:spPr>
          <a:xfrm>
            <a:off x="7252037" y="3001744"/>
            <a:ext cx="126325" cy="126325"/>
          </a:xfrm>
          <a:prstGeom prst="roundRect">
            <a:avLst>
              <a:gd name="adj" fmla="val 361924"/>
            </a:avLst>
          </a:prstGeom>
          <a:solidFill>
            <a:srgbClr val="C7A2AC"/>
          </a:solidFill>
          <a:ln/>
        </p:spPr>
      </p:sp>
      <p:sp>
        <p:nvSpPr>
          <p:cNvPr id="11" name="Text 9"/>
          <p:cNvSpPr/>
          <p:nvPr/>
        </p:nvSpPr>
        <p:spPr>
          <a:xfrm>
            <a:off x="7989094" y="2933343"/>
            <a:ext cx="3027402" cy="378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Страницы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7989094" y="3412807"/>
            <a:ext cx="5986463" cy="539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Основные разделы приложения (HomePage, ClientsPage, DealsPage, TasksPage, AdminPage).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01113" y="3924776"/>
            <a:ext cx="336947" cy="22860"/>
          </a:xfrm>
          <a:prstGeom prst="roundRect">
            <a:avLst>
              <a:gd name="adj" fmla="val 1105540"/>
            </a:avLst>
          </a:prstGeom>
          <a:solidFill>
            <a:srgbClr val="D2C5C9"/>
          </a:solidFill>
          <a:ln/>
        </p:spPr>
      </p:sp>
      <p:sp>
        <p:nvSpPr>
          <p:cNvPr id="14" name="Shape 12"/>
          <p:cNvSpPr/>
          <p:nvPr/>
        </p:nvSpPr>
        <p:spPr>
          <a:xfrm>
            <a:off x="7252037" y="3873044"/>
            <a:ext cx="126325" cy="126325"/>
          </a:xfrm>
          <a:prstGeom prst="roundRect">
            <a:avLst>
              <a:gd name="adj" fmla="val 361924"/>
            </a:avLst>
          </a:prstGeom>
          <a:solidFill>
            <a:srgbClr val="C7A2AC"/>
          </a:solidFill>
          <a:ln/>
        </p:spPr>
      </p:sp>
      <p:sp>
        <p:nvSpPr>
          <p:cNvPr id="15" name="Text 13"/>
          <p:cNvSpPr/>
          <p:nvPr/>
        </p:nvSpPr>
        <p:spPr>
          <a:xfrm>
            <a:off x="3613904" y="3804642"/>
            <a:ext cx="3027402" cy="378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50"/>
              </a:lnSpc>
              <a:buNone/>
            </a:pPr>
            <a:r>
              <a:rPr lang="en-US" sz="23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Store</a:t>
            </a:r>
            <a:endParaRPr lang="en-US" sz="2350" dirty="0"/>
          </a:p>
        </p:txBody>
      </p:sp>
      <p:sp>
        <p:nvSpPr>
          <p:cNvPr id="16" name="Text 14"/>
          <p:cNvSpPr/>
          <p:nvPr/>
        </p:nvSpPr>
        <p:spPr>
          <a:xfrm>
            <a:off x="654844" y="4284107"/>
            <a:ext cx="5986463" cy="539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Управление состоянием (AuthStore, DataStore, NavigationStore, UIStore).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92340" y="4796076"/>
            <a:ext cx="336947" cy="22860"/>
          </a:xfrm>
          <a:prstGeom prst="roundRect">
            <a:avLst>
              <a:gd name="adj" fmla="val 1105540"/>
            </a:avLst>
          </a:prstGeom>
          <a:solidFill>
            <a:srgbClr val="D2C5C9"/>
          </a:solidFill>
          <a:ln/>
        </p:spPr>
      </p:sp>
      <p:sp>
        <p:nvSpPr>
          <p:cNvPr id="18" name="Shape 16"/>
          <p:cNvSpPr/>
          <p:nvPr/>
        </p:nvSpPr>
        <p:spPr>
          <a:xfrm>
            <a:off x="7252037" y="4744343"/>
            <a:ext cx="126325" cy="126325"/>
          </a:xfrm>
          <a:prstGeom prst="roundRect">
            <a:avLst>
              <a:gd name="adj" fmla="val 361924"/>
            </a:avLst>
          </a:prstGeom>
          <a:solidFill>
            <a:srgbClr val="C7A2AC"/>
          </a:solidFill>
          <a:ln/>
        </p:spPr>
      </p:sp>
      <p:sp>
        <p:nvSpPr>
          <p:cNvPr id="19" name="Text 17"/>
          <p:cNvSpPr/>
          <p:nvPr/>
        </p:nvSpPr>
        <p:spPr>
          <a:xfrm>
            <a:off x="7989094" y="4675942"/>
            <a:ext cx="3027402" cy="378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Types</a:t>
            </a:r>
            <a:endParaRPr lang="en-US" sz="2350" dirty="0"/>
          </a:p>
        </p:txBody>
      </p:sp>
      <p:sp>
        <p:nvSpPr>
          <p:cNvPr id="20" name="Text 18"/>
          <p:cNvSpPr/>
          <p:nvPr/>
        </p:nvSpPr>
        <p:spPr>
          <a:xfrm>
            <a:off x="7989094" y="5155406"/>
            <a:ext cx="5986463" cy="539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TypeScript типы для пользователей, клиентов, сделок, задач и контактов.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01113" y="5667375"/>
            <a:ext cx="336947" cy="22860"/>
          </a:xfrm>
          <a:prstGeom prst="roundRect">
            <a:avLst>
              <a:gd name="adj" fmla="val 1105540"/>
            </a:avLst>
          </a:prstGeom>
          <a:solidFill>
            <a:srgbClr val="D2C5C9"/>
          </a:solidFill>
          <a:ln/>
        </p:spPr>
      </p:sp>
      <p:sp>
        <p:nvSpPr>
          <p:cNvPr id="22" name="Shape 20"/>
          <p:cNvSpPr/>
          <p:nvPr/>
        </p:nvSpPr>
        <p:spPr>
          <a:xfrm>
            <a:off x="7252037" y="5615642"/>
            <a:ext cx="126325" cy="126325"/>
          </a:xfrm>
          <a:prstGeom prst="roundRect">
            <a:avLst>
              <a:gd name="adj" fmla="val 361924"/>
            </a:avLst>
          </a:prstGeom>
          <a:solidFill>
            <a:srgbClr val="C7A2AC"/>
          </a:solidFill>
          <a:ln/>
        </p:spPr>
      </p:sp>
      <p:sp>
        <p:nvSpPr>
          <p:cNvPr id="23" name="Text 21"/>
          <p:cNvSpPr/>
          <p:nvPr/>
        </p:nvSpPr>
        <p:spPr>
          <a:xfrm>
            <a:off x="3613904" y="5547241"/>
            <a:ext cx="3027402" cy="378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50"/>
              </a:lnSpc>
              <a:buNone/>
            </a:pPr>
            <a:r>
              <a:rPr lang="en-US" sz="23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Стили</a:t>
            </a:r>
            <a:endParaRPr lang="en-US" sz="2350" dirty="0"/>
          </a:p>
        </p:txBody>
      </p:sp>
      <p:sp>
        <p:nvSpPr>
          <p:cNvPr id="24" name="Text 22"/>
          <p:cNvSpPr/>
          <p:nvPr/>
        </p:nvSpPr>
        <p:spPr>
          <a:xfrm>
            <a:off x="654844" y="6026706"/>
            <a:ext cx="5986463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Глобальные стили и сине-серая профессиональная цветовая палитра.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92340" y="6538674"/>
            <a:ext cx="336947" cy="22860"/>
          </a:xfrm>
          <a:prstGeom prst="roundRect">
            <a:avLst>
              <a:gd name="adj" fmla="val 1105540"/>
            </a:avLst>
          </a:prstGeom>
          <a:solidFill>
            <a:srgbClr val="D2C5C9"/>
          </a:solidFill>
          <a:ln/>
        </p:spPr>
      </p:sp>
      <p:sp>
        <p:nvSpPr>
          <p:cNvPr id="26" name="Shape 24"/>
          <p:cNvSpPr/>
          <p:nvPr/>
        </p:nvSpPr>
        <p:spPr>
          <a:xfrm>
            <a:off x="7252037" y="6486942"/>
            <a:ext cx="126325" cy="126325"/>
          </a:xfrm>
          <a:prstGeom prst="roundRect">
            <a:avLst>
              <a:gd name="adj" fmla="val 361924"/>
            </a:avLst>
          </a:prstGeom>
          <a:solidFill>
            <a:srgbClr val="C7A2AC"/>
          </a:solidFill>
          <a:ln/>
        </p:spPr>
      </p:sp>
      <p:sp>
        <p:nvSpPr>
          <p:cNvPr id="27" name="Text 25"/>
          <p:cNvSpPr/>
          <p:nvPr/>
        </p:nvSpPr>
        <p:spPr>
          <a:xfrm>
            <a:off x="7989094" y="6418540"/>
            <a:ext cx="3027402" cy="378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Хуки &amp; Утилиты</a:t>
            </a:r>
            <a:endParaRPr lang="en-US" sz="2350" dirty="0"/>
          </a:p>
        </p:txBody>
      </p:sp>
      <p:sp>
        <p:nvSpPr>
          <p:cNvPr id="28" name="Text 26"/>
          <p:cNvSpPr/>
          <p:nvPr/>
        </p:nvSpPr>
        <p:spPr>
          <a:xfrm>
            <a:off x="7989094" y="6898005"/>
            <a:ext cx="5986463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Кастомные React хуки и конфигурация Firebase.</a:t>
            </a:r>
            <a:endParaRPr lang="en-US" sz="130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355865B-8D24-4920-B904-0E79C9C5174A}"/>
              </a:ext>
            </a:extLst>
          </p:cNvPr>
          <p:cNvSpPr/>
          <p:nvPr/>
        </p:nvSpPr>
        <p:spPr>
          <a:xfrm>
            <a:off x="12779433" y="7764087"/>
            <a:ext cx="1751214" cy="3491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1621631"/>
            <a:ext cx="8057317" cy="666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Система Ролей и Прав Доступа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649129" y="2659023"/>
            <a:ext cx="13332143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Приложение имеет гибкую систему ролей, которая обеспечивает разграничение доступа к функционалу на основе учетных данных пользователя.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9129" y="3461028"/>
            <a:ext cx="4320421" cy="556379"/>
          </a:xfrm>
          <a:prstGeom prst="roundRect">
            <a:avLst>
              <a:gd name="adj" fmla="val 480075"/>
            </a:avLst>
          </a:prstGeom>
          <a:solidFill>
            <a:srgbClr val="ECDFE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70215" y="3600093"/>
            <a:ext cx="278130" cy="278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4509" y="4202787"/>
            <a:ext cx="3495556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Наблюдатель (viewer)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34509" y="4730472"/>
            <a:ext cx="3949660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Просмотр клиентов, сделок и задач без возможности редактирования данных. Роль по умолчанию.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154930" y="3461028"/>
            <a:ext cx="4320421" cy="556379"/>
          </a:xfrm>
          <a:prstGeom prst="roundRect">
            <a:avLst>
              <a:gd name="adj" fmla="val 480075"/>
            </a:avLst>
          </a:prstGeom>
          <a:solidFill>
            <a:srgbClr val="ECDFE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6016" y="3600093"/>
            <a:ext cx="278130" cy="2781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0310" y="4202787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Менеджер (manager)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340310" y="4730472"/>
            <a:ext cx="3949660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Дополнительно к наблюдателю: создание и редактирование клиентов, управление сделками и задачами.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9660731" y="3461028"/>
            <a:ext cx="4320421" cy="556379"/>
          </a:xfrm>
          <a:prstGeom prst="roundRect">
            <a:avLst>
              <a:gd name="adj" fmla="val 480075"/>
            </a:avLst>
          </a:prstGeom>
          <a:solidFill>
            <a:srgbClr val="ECDFE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1817" y="3600093"/>
            <a:ext cx="278130" cy="278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46112" y="4202787"/>
            <a:ext cx="3810476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Администратор (admin)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9846112" y="4730472"/>
            <a:ext cx="3949660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Полный контроль: все права менеджера плюс управление всеми данными и доступ к разделу администрирования.</a:t>
            </a:r>
            <a:endParaRPr lang="en-US" sz="145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B8D68A8-236E-4FC3-9099-10996A66BE3F}"/>
              </a:ext>
            </a:extLst>
          </p:cNvPr>
          <p:cNvSpPr/>
          <p:nvPr/>
        </p:nvSpPr>
        <p:spPr>
          <a:xfrm>
            <a:off x="12779433" y="7764087"/>
            <a:ext cx="1751214" cy="3491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1165503"/>
            <a:ext cx="10469047" cy="666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Структура Данных: Ключевые Сущности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649129" y="2202894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Для обеспечения целостности и эффективного хранения информации, проект оперирует четырьмя основными сущностями.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9129" y="2708196"/>
            <a:ext cx="4320421" cy="2233613"/>
          </a:xfrm>
          <a:prstGeom prst="roundRect">
            <a:avLst>
              <a:gd name="adj" fmla="val 12457"/>
            </a:avLst>
          </a:prstGeom>
          <a:solidFill>
            <a:srgbClr val="ECDFE3"/>
          </a:solidFill>
          <a:ln/>
        </p:spPr>
      </p:sp>
      <p:sp>
        <p:nvSpPr>
          <p:cNvPr id="5" name="Shape 3"/>
          <p:cNvSpPr/>
          <p:nvPr/>
        </p:nvSpPr>
        <p:spPr>
          <a:xfrm>
            <a:off x="834509" y="2893576"/>
            <a:ext cx="556379" cy="556379"/>
          </a:xfrm>
          <a:prstGeom prst="roundRect">
            <a:avLst>
              <a:gd name="adj" fmla="val 16433197"/>
            </a:avLst>
          </a:prstGeom>
          <a:solidFill>
            <a:srgbClr val="C7A2A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504" y="3046452"/>
            <a:ext cx="250388" cy="2503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4509" y="3635335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Клиент (Client)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34509" y="4163020"/>
            <a:ext cx="3949660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id, name, email, phone, company, position, status, source, notes, isActive.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154930" y="2708196"/>
            <a:ext cx="4320421" cy="2233613"/>
          </a:xfrm>
          <a:prstGeom prst="roundRect">
            <a:avLst>
              <a:gd name="adj" fmla="val 12457"/>
            </a:avLst>
          </a:prstGeom>
          <a:solidFill>
            <a:srgbClr val="ECDFE3"/>
          </a:solidFill>
          <a:ln/>
        </p:spPr>
      </p:sp>
      <p:sp>
        <p:nvSpPr>
          <p:cNvPr id="10" name="Shape 7"/>
          <p:cNvSpPr/>
          <p:nvPr/>
        </p:nvSpPr>
        <p:spPr>
          <a:xfrm>
            <a:off x="5340310" y="2893576"/>
            <a:ext cx="556379" cy="556379"/>
          </a:xfrm>
          <a:prstGeom prst="roundRect">
            <a:avLst>
              <a:gd name="adj" fmla="val 16433197"/>
            </a:avLst>
          </a:prstGeom>
          <a:solidFill>
            <a:srgbClr val="C7A2A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3306" y="3046452"/>
            <a:ext cx="250388" cy="2503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0310" y="3635335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Сделка (Deal)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5340310" y="4163020"/>
            <a:ext cx="3949660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id, clientId, title, amount, stage, probability, expectedCloseDate, notes, isActive.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9660731" y="2708196"/>
            <a:ext cx="4320421" cy="2233613"/>
          </a:xfrm>
          <a:prstGeom prst="roundRect">
            <a:avLst>
              <a:gd name="adj" fmla="val 12457"/>
            </a:avLst>
          </a:prstGeom>
          <a:solidFill>
            <a:srgbClr val="ECDFE3"/>
          </a:solidFill>
          <a:ln/>
        </p:spPr>
      </p:sp>
      <p:sp>
        <p:nvSpPr>
          <p:cNvPr id="15" name="Shape 11"/>
          <p:cNvSpPr/>
          <p:nvPr/>
        </p:nvSpPr>
        <p:spPr>
          <a:xfrm>
            <a:off x="9846112" y="2893576"/>
            <a:ext cx="556379" cy="556379"/>
          </a:xfrm>
          <a:prstGeom prst="roundRect">
            <a:avLst>
              <a:gd name="adj" fmla="val 16433197"/>
            </a:avLst>
          </a:prstGeom>
          <a:solidFill>
            <a:srgbClr val="C7A2A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99107" y="3046452"/>
            <a:ext cx="250388" cy="2503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46112" y="3635335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Задача (Task)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9846112" y="4163020"/>
            <a:ext cx="3949660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id, title, description, clientId, dealId, priority, status, dueDate, assigneeId.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49129" y="5127188"/>
            <a:ext cx="13332023" cy="1936909"/>
          </a:xfrm>
          <a:prstGeom prst="roundRect">
            <a:avLst>
              <a:gd name="adj" fmla="val 14365"/>
            </a:avLst>
          </a:prstGeom>
          <a:solidFill>
            <a:srgbClr val="ECDFE3"/>
          </a:solidFill>
          <a:ln/>
        </p:spPr>
      </p:sp>
      <p:sp>
        <p:nvSpPr>
          <p:cNvPr id="20" name="Shape 15"/>
          <p:cNvSpPr/>
          <p:nvPr/>
        </p:nvSpPr>
        <p:spPr>
          <a:xfrm>
            <a:off x="834509" y="5312569"/>
            <a:ext cx="556379" cy="556379"/>
          </a:xfrm>
          <a:prstGeom prst="roundRect">
            <a:avLst>
              <a:gd name="adj" fmla="val 16433197"/>
            </a:avLst>
          </a:prstGeom>
          <a:solidFill>
            <a:srgbClr val="C7A2AC"/>
          </a:solidFill>
          <a:ln/>
        </p:spPr>
      </p:sp>
      <p:sp>
        <p:nvSpPr>
          <p:cNvPr id="21" name="Text 16"/>
          <p:cNvSpPr/>
          <p:nvPr/>
        </p:nvSpPr>
        <p:spPr>
          <a:xfrm>
            <a:off x="834509" y="6054328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Контакт (Contact)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834509" y="6582013"/>
            <a:ext cx="1296126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id, clientId, type (call/email/meeting), date, notes.</a:t>
            </a:r>
            <a:endParaRPr lang="en-US" sz="145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58C785B-09AA-4353-8EB1-B2DA127A1961}"/>
              </a:ext>
            </a:extLst>
          </p:cNvPr>
          <p:cNvSpPr/>
          <p:nvPr/>
        </p:nvSpPr>
        <p:spPr>
          <a:xfrm>
            <a:off x="12779433" y="7769629"/>
            <a:ext cx="1751214" cy="3491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266" y="973574"/>
            <a:ext cx="7858839" cy="61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Руководство по Запуску Проекта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01266" y="1848683"/>
            <a:ext cx="7941469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Для успешного запуска CRM-приложения следуйте простым шагам, начиная с установки необходимых зависимостей.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1266" y="2591514"/>
            <a:ext cx="171807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01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01266" y="2860477"/>
            <a:ext cx="3884771" cy="2286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7" name="Text 4"/>
          <p:cNvSpPr/>
          <p:nvPr/>
        </p:nvSpPr>
        <p:spPr>
          <a:xfrm>
            <a:off x="601266" y="2992041"/>
            <a:ext cx="3884771" cy="771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Предварительные требования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01266" y="3866793"/>
            <a:ext cx="3884771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Убедитесь, что установлены Node.js (рекомендуется v18+) и npm.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57844" y="2591514"/>
            <a:ext cx="171807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02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57844" y="2860477"/>
            <a:ext cx="3884890" cy="2286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1" name="Text 8"/>
          <p:cNvSpPr/>
          <p:nvPr/>
        </p:nvSpPr>
        <p:spPr>
          <a:xfrm>
            <a:off x="4657844" y="2992041"/>
            <a:ext cx="3738443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Установка зависимостей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657844" y="3571161"/>
            <a:ext cx="3884890" cy="532448"/>
          </a:xfrm>
          <a:prstGeom prst="roundRect">
            <a:avLst>
              <a:gd name="adj" fmla="val 48401"/>
            </a:avLst>
          </a:prstGeom>
          <a:solidFill>
            <a:srgbClr val="F2F2F2"/>
          </a:solidFill>
          <a:ln/>
        </p:spPr>
      </p:sp>
      <p:sp>
        <p:nvSpPr>
          <p:cNvPr id="13" name="Shape 10"/>
          <p:cNvSpPr/>
          <p:nvPr/>
        </p:nvSpPr>
        <p:spPr>
          <a:xfrm>
            <a:off x="4649272" y="3571161"/>
            <a:ext cx="3902035" cy="532448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4821079" y="3699986"/>
            <a:ext cx="3558421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657844" y="4296847"/>
            <a:ext cx="3884890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Выполните эту команду в корневой папке проекта.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01266" y="5147072"/>
            <a:ext cx="171807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01266" y="5416034"/>
            <a:ext cx="7941469" cy="2286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8" name="Text 15"/>
          <p:cNvSpPr/>
          <p:nvPr/>
        </p:nvSpPr>
        <p:spPr>
          <a:xfrm>
            <a:off x="601266" y="5547598"/>
            <a:ext cx="4128968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Запуск development сервера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601266" y="6126718"/>
            <a:ext cx="7941469" cy="532448"/>
          </a:xfrm>
          <a:prstGeom prst="roundRect">
            <a:avLst>
              <a:gd name="adj" fmla="val 48401"/>
            </a:avLst>
          </a:prstGeom>
          <a:solidFill>
            <a:srgbClr val="F2F2F2"/>
          </a:solidFill>
          <a:ln/>
        </p:spPr>
      </p:sp>
      <p:sp>
        <p:nvSpPr>
          <p:cNvPr id="20" name="Shape 17"/>
          <p:cNvSpPr/>
          <p:nvPr/>
        </p:nvSpPr>
        <p:spPr>
          <a:xfrm>
            <a:off x="592693" y="6126718"/>
            <a:ext cx="7958614" cy="532448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21" name="Text 18"/>
          <p:cNvSpPr/>
          <p:nvPr/>
        </p:nvSpPr>
        <p:spPr>
          <a:xfrm>
            <a:off x="764500" y="6255544"/>
            <a:ext cx="7614999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01266" y="6852404"/>
            <a:ext cx="7941469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Приложение будет доступно по локальному адресу.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862013"/>
            <a:ext cx="12073771" cy="666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Заключение: Будущее Управления Клиентами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649129" y="1899404"/>
            <a:ext cx="13332143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Данная CRM-система — это стратегический шаг для повышения эффективности малого бизнеса, помогающий организовать работу с клиентами, повысить качество обслуживания и увеличить прибыль.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9129" y="3133725"/>
            <a:ext cx="4332923" cy="832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Повышенная Эффективность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9129" y="4077891"/>
            <a:ext cx="4332923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Автоматизация продаж и улучшение качества обработки входящих заявок.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051" y="2701409"/>
            <a:ext cx="4666178" cy="466617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5078" y="4054435"/>
            <a:ext cx="260747" cy="2607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48230" y="3341965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Прозрачность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9648230" y="3869650"/>
            <a:ext cx="4333042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Отслеживание сделок от начала до завершения с возможностью анализа данных.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2051" y="2701409"/>
            <a:ext cx="4666178" cy="466617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4338" y="4054435"/>
            <a:ext cx="260747" cy="26074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48230" y="5814060"/>
            <a:ext cx="4251484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Инновационное Решение</a:t>
            </a:r>
            <a:endParaRPr lang="en-US" sz="2600" dirty="0"/>
          </a:p>
        </p:txBody>
      </p:sp>
      <p:sp>
        <p:nvSpPr>
          <p:cNvPr id="13" name="Text 7"/>
          <p:cNvSpPr/>
          <p:nvPr/>
        </p:nvSpPr>
        <p:spPr>
          <a:xfrm>
            <a:off x="9648230" y="6341745"/>
            <a:ext cx="4333042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Современные технологии для эффективного управления взаимоотношениями с клиентами.</a:t>
            </a:r>
            <a:endParaRPr lang="en-US" sz="14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2051" y="2701409"/>
            <a:ext cx="4666178" cy="466617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34338" y="5753695"/>
            <a:ext cx="260747" cy="26074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649135" y="5814060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Масштабируемость</a:t>
            </a:r>
            <a:endParaRPr lang="en-US" sz="2600" dirty="0"/>
          </a:p>
        </p:txBody>
      </p:sp>
      <p:sp>
        <p:nvSpPr>
          <p:cNvPr id="17" name="Text 9"/>
          <p:cNvSpPr/>
          <p:nvPr/>
        </p:nvSpPr>
        <p:spPr>
          <a:xfrm>
            <a:off x="649129" y="6341745"/>
            <a:ext cx="4332923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Стратегический инструмент для роста и устойчивости малого бизнеса.</a:t>
            </a:r>
            <a:endParaRPr lang="en-US" sz="14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2051" y="2701409"/>
            <a:ext cx="4666178" cy="4666178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35078" y="5753695"/>
            <a:ext cx="260747" cy="260747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8E2E4D-884B-41B4-B71C-3DBF9D04AD32}"/>
              </a:ext>
            </a:extLst>
          </p:cNvPr>
          <p:cNvSpPr/>
          <p:nvPr/>
        </p:nvSpPr>
        <p:spPr>
          <a:xfrm>
            <a:off x="12779433" y="7764087"/>
            <a:ext cx="1751214" cy="3491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707</Words>
  <Application>Microsoft Office PowerPoint</Application>
  <PresentationFormat>Произвольный</PresentationFormat>
  <Paragraphs>104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Consolas</vt:lpstr>
      <vt:lpstr>Baskervville</vt:lpstr>
      <vt:lpstr>Baskervville Light</vt:lpstr>
      <vt:lpstr>Calibri</vt:lpstr>
      <vt:lpstr>Poppins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Никита Смирнов</cp:lastModifiedBy>
  <cp:revision>4</cp:revision>
  <dcterms:created xsi:type="dcterms:W3CDTF">2026-01-06T20:24:33Z</dcterms:created>
  <dcterms:modified xsi:type="dcterms:W3CDTF">2026-01-06T20:52:54Z</dcterms:modified>
</cp:coreProperties>
</file>